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a:spAutoFit/>
          </a:bodyPr>
          <a:lstStyle/>
          <a:p>
            <a:pPr algn="l"/>
            <a:r>
              <a:rPr sz="3200" b="1">
                <a:solidFill>
                  <a:srgbClr val="000000"/>
                </a:solidFill>
                <a:latin typeface="Arial"/>
              </a:rPr>
              <a:t>Deniz Construction Management System</a:t>
            </a:r>
          </a:p>
        </p:txBody>
      </p:sp>
      <p:sp>
        <p:nvSpPr>
          <p:cNvPr id="3" name="TextBox 2"/>
          <p:cNvSpPr txBox="1"/>
          <p:nvPr/>
        </p:nvSpPr>
        <p:spPr>
          <a:xfrm>
            <a:off x="640080" y="1463040"/>
            <a:ext cx="10972800" cy="548640"/>
          </a:xfrm>
          <a:prstGeom prst="rect">
            <a:avLst/>
          </a:prstGeom>
          <a:noFill/>
        </p:spPr>
        <p:txBody>
          <a:bodyPr wrap="square">
            <a:spAutoFit/>
          </a:bodyPr>
          <a:lstStyle/>
          <a:p>
            <a:pPr algn="l"/>
            <a:r>
              <a:rPr sz="2000" b="0">
                <a:solidFill>
                  <a:srgbClr val="000000"/>
                </a:solidFill>
                <a:latin typeface="Arial"/>
              </a:rPr>
              <a:t>Requirements Engineering and Database Design</a:t>
            </a:r>
          </a:p>
        </p:txBody>
      </p:sp>
      <p:sp>
        <p:nvSpPr>
          <p:cNvPr id="4" name="TextBox 3"/>
          <p:cNvSpPr txBox="1"/>
          <p:nvPr/>
        </p:nvSpPr>
        <p:spPr>
          <a:xfrm>
            <a:off x="640080" y="2103120"/>
            <a:ext cx="10515600" cy="914400"/>
          </a:xfrm>
          <a:prstGeom prst="rect">
            <a:avLst/>
          </a:prstGeom>
          <a:noFill/>
        </p:spPr>
        <p:txBody>
          <a:bodyPr wrap="square">
            <a:spAutoFit/>
          </a:bodyPr>
          <a:lstStyle/>
          <a:p>
            <a:pPr algn="l"/>
            <a:r>
              <a:rPr sz="1800" b="0">
                <a:solidFill>
                  <a:srgbClr val="000000"/>
                </a:solidFill>
                <a:latin typeface="Arial"/>
              </a:rPr>
              <a:t>Group K</a:t>
            </a:r>
          </a:p>
        </p:txBody>
      </p:sp>
      <p:sp>
        <p:nvSpPr>
          <p:cNvPr id="5" name="TextBox 4"/>
          <p:cNvSpPr txBox="1"/>
          <p:nvPr/>
        </p:nvSpPr>
        <p:spPr>
          <a:xfrm>
            <a:off x="640080" y="2651760"/>
            <a:ext cx="10515600" cy="914400"/>
          </a:xfrm>
          <a:prstGeom prst="rect">
            <a:avLst/>
          </a:prstGeom>
          <a:noFill/>
        </p:spPr>
        <p:txBody>
          <a:bodyPr wrap="square">
            <a:spAutoFit/>
          </a:bodyPr>
          <a:lstStyle/>
          <a:p>
            <a:pPr algn="l"/>
            <a:r>
              <a:rPr sz="1800" b="0">
                <a:solidFill>
                  <a:srgbClr val="000000"/>
                </a:solidFill>
                <a:latin typeface="Arial"/>
              </a:rPr>
              <a:t>SWE2102 Requirements Engineering</a:t>
            </a:r>
          </a:p>
        </p:txBody>
      </p:sp>
      <p:sp>
        <p:nvSpPr>
          <p:cNvPr id="6" name="TextBox 5"/>
          <p:cNvSpPr txBox="1"/>
          <p:nvPr/>
        </p:nvSpPr>
        <p:spPr>
          <a:xfrm>
            <a:off x="640080" y="3200400"/>
            <a:ext cx="10515600" cy="914400"/>
          </a:xfrm>
          <a:prstGeom prst="rect">
            <a:avLst/>
          </a:prstGeom>
          <a:noFill/>
        </p:spPr>
        <p:txBody>
          <a:bodyPr wrap="square">
            <a:spAutoFit/>
          </a:bodyPr>
          <a:lstStyle/>
          <a:p>
            <a:pPr algn="l"/>
            <a:r>
              <a:rPr sz="1800" b="0">
                <a:solidFill>
                  <a:srgbClr val="000000"/>
                </a:solidFill>
                <a:latin typeface="Arial"/>
              </a:rPr>
              <a:t>Mbarara University of Science and Technology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a:spAutoFit/>
          </a:bodyPr>
          <a:lstStyle/>
          <a:p>
            <a:pPr algn="l"/>
            <a:r>
              <a:rPr sz="3200" b="1">
                <a:solidFill>
                  <a:srgbClr val="000000"/>
                </a:solidFill>
                <a:latin typeface="Arial"/>
              </a:rPr>
              <a:t>Group Members</a:t>
            </a:r>
          </a:p>
        </p:txBody>
      </p:sp>
      <p:graphicFrame>
        <p:nvGraphicFramePr>
          <p:cNvPr id="3" name="Table 2"/>
          <p:cNvGraphicFramePr>
            <a:graphicFrameLocks noGrp="1"/>
          </p:cNvGraphicFramePr>
          <p:nvPr/>
        </p:nvGraphicFramePr>
        <p:xfrm>
          <a:off x="640080" y="1463040"/>
          <a:ext cx="10515600" cy="3657600"/>
        </p:xfrm>
        <a:graphic>
          <a:graphicData uri="http://schemas.openxmlformats.org/drawingml/2006/table">
            <a:tbl>
              <a:tblPr firstRow="1" bandRow="1">
                <a:tableStyleId>{5C22544A-7EE6-4342-B048-85BDC9FD1C3A}</a:tableStyleId>
              </a:tblPr>
              <a:tblGrid>
                <a:gridCol w="5257800"/>
                <a:gridCol w="5257800"/>
              </a:tblGrid>
              <a:tr h="332509">
                <a:tc>
                  <a:txBody>
                    <a:bodyPr/>
                    <a:lstStyle/>
                    <a:p>
                      <a:pPr algn="ctr"/>
                      <a:r>
                        <a:rPr sz="1600" b="1">
                          <a:solidFill>
                            <a:srgbClr val="000000"/>
                          </a:solidFill>
                          <a:latin typeface="Arial"/>
                        </a:rPr>
                        <a:t>Name</a:t>
                      </a:r>
                    </a:p>
                  </a:txBody>
                  <a:tcPr>
                    <a:solidFill>
                      <a:srgbClr val="F0F0F0"/>
                    </a:solidFill>
                  </a:tcPr>
                </a:tc>
                <a:tc>
                  <a:txBody>
                    <a:bodyPr/>
                    <a:lstStyle/>
                    <a:p>
                      <a:pPr algn="ctr"/>
                      <a:r>
                        <a:rPr sz="1600" b="1">
                          <a:solidFill>
                            <a:srgbClr val="000000"/>
                          </a:solidFill>
                          <a:latin typeface="Arial"/>
                        </a:rPr>
                        <a:t>Registration Number</a:t>
                      </a:r>
                    </a:p>
                  </a:txBody>
                  <a:tcPr>
                    <a:solidFill>
                      <a:srgbClr val="F0F0F0"/>
                    </a:solidFill>
                  </a:tcPr>
                </a:tc>
              </a:tr>
              <a:tr h="332509">
                <a:tc>
                  <a:txBody>
                    <a:bodyPr/>
                    <a:lstStyle/>
                    <a:p>
                      <a:pPr algn="l"/>
                      <a:r>
                        <a:rPr sz="1600" b="0">
                          <a:solidFill>
                            <a:srgbClr val="000000"/>
                          </a:solidFill>
                          <a:latin typeface="Arial"/>
                        </a:rPr>
                        <a:t>JOAS TAREMWA</a:t>
                      </a:r>
                    </a:p>
                  </a:txBody>
                  <a:tcPr/>
                </a:tc>
                <a:tc>
                  <a:txBody>
                    <a:bodyPr/>
                    <a:lstStyle/>
                    <a:p>
                      <a:pPr algn="l"/>
                      <a:r>
                        <a:rPr sz="1600" b="0">
                          <a:solidFill>
                            <a:srgbClr val="000000"/>
                          </a:solidFill>
                          <a:latin typeface="Arial"/>
                        </a:rPr>
                        <a:t>2025/BSE/171/PS</a:t>
                      </a:r>
                    </a:p>
                  </a:txBody>
                  <a:tcPr/>
                </a:tc>
              </a:tr>
              <a:tr h="332509">
                <a:tc>
                  <a:txBody>
                    <a:bodyPr/>
                    <a:lstStyle/>
                    <a:p>
                      <a:pPr algn="l"/>
                      <a:r>
                        <a:rPr sz="1600" b="0">
                          <a:solidFill>
                            <a:srgbClr val="000000"/>
                          </a:solidFill>
                          <a:latin typeface="Arial"/>
                        </a:rPr>
                        <a:t>ASUMA KADDE KEVIN</a:t>
                      </a:r>
                    </a:p>
                  </a:txBody>
                  <a:tcPr>
                    <a:solidFill>
                      <a:srgbClr val="F5F5F5"/>
                    </a:solidFill>
                  </a:tcPr>
                </a:tc>
                <a:tc>
                  <a:txBody>
                    <a:bodyPr/>
                    <a:lstStyle/>
                    <a:p>
                      <a:pPr algn="l"/>
                      <a:r>
                        <a:rPr sz="1600" b="0">
                          <a:solidFill>
                            <a:srgbClr val="000000"/>
                          </a:solidFill>
                          <a:latin typeface="Arial"/>
                        </a:rPr>
                        <a:t>2025/BSE/045/PS</a:t>
                      </a:r>
                    </a:p>
                  </a:txBody>
                  <a:tcPr>
                    <a:solidFill>
                      <a:srgbClr val="F5F5F5"/>
                    </a:solidFill>
                  </a:tcPr>
                </a:tc>
              </a:tr>
              <a:tr h="332509">
                <a:tc>
                  <a:txBody>
                    <a:bodyPr/>
                    <a:lstStyle/>
                    <a:p>
                      <a:pPr algn="l"/>
                      <a:r>
                        <a:rPr sz="1600" b="0">
                          <a:solidFill>
                            <a:srgbClr val="000000"/>
                          </a:solidFill>
                          <a:latin typeface="Arial"/>
                        </a:rPr>
                        <a:t>SSEBUGWAWO HARRISON</a:t>
                      </a:r>
                    </a:p>
                  </a:txBody>
                  <a:tcPr/>
                </a:tc>
                <a:tc>
                  <a:txBody>
                    <a:bodyPr/>
                    <a:lstStyle/>
                    <a:p>
                      <a:pPr algn="l"/>
                      <a:r>
                        <a:rPr sz="1600" b="0">
                          <a:solidFill>
                            <a:srgbClr val="000000"/>
                          </a:solidFill>
                          <a:latin typeface="Arial"/>
                        </a:rPr>
                        <a:t>2025/BSE/161/PS</a:t>
                      </a:r>
                    </a:p>
                  </a:txBody>
                  <a:tcPr/>
                </a:tc>
              </a:tr>
              <a:tr h="332509">
                <a:tc>
                  <a:txBody>
                    <a:bodyPr/>
                    <a:lstStyle/>
                    <a:p>
                      <a:pPr algn="l"/>
                      <a:r>
                        <a:rPr sz="1600" b="0">
                          <a:solidFill>
                            <a:srgbClr val="000000"/>
                          </a:solidFill>
                          <a:latin typeface="Arial"/>
                        </a:rPr>
                        <a:t>TIBAMANYA DAVIS</a:t>
                      </a:r>
                    </a:p>
                  </a:txBody>
                  <a:tcPr>
                    <a:solidFill>
                      <a:srgbClr val="F5F5F5"/>
                    </a:solidFill>
                  </a:tcPr>
                </a:tc>
                <a:tc>
                  <a:txBody>
                    <a:bodyPr/>
                    <a:lstStyle/>
                    <a:p>
                      <a:pPr algn="l"/>
                      <a:r>
                        <a:rPr sz="1600" b="0">
                          <a:solidFill>
                            <a:srgbClr val="000000"/>
                          </a:solidFill>
                          <a:latin typeface="Arial"/>
                        </a:rPr>
                        <a:t>2025/BSE/172/PS</a:t>
                      </a:r>
                    </a:p>
                  </a:txBody>
                  <a:tcPr>
                    <a:solidFill>
                      <a:srgbClr val="F5F5F5"/>
                    </a:solidFill>
                  </a:tcPr>
                </a:tc>
              </a:tr>
              <a:tr h="332509">
                <a:tc>
                  <a:txBody>
                    <a:bodyPr/>
                    <a:lstStyle/>
                    <a:p>
                      <a:pPr algn="l"/>
                      <a:r>
                        <a:rPr sz="1600" b="0">
                          <a:solidFill>
                            <a:srgbClr val="000000"/>
                          </a:solidFill>
                          <a:latin typeface="Arial"/>
                        </a:rPr>
                        <a:t>EDOU SIMON PETER</a:t>
                      </a:r>
                    </a:p>
                  </a:txBody>
                  <a:tcPr/>
                </a:tc>
                <a:tc>
                  <a:txBody>
                    <a:bodyPr/>
                    <a:lstStyle/>
                    <a:p>
                      <a:pPr algn="l"/>
                      <a:r>
                        <a:rPr sz="1600" b="0">
                          <a:solidFill>
                            <a:srgbClr val="000000"/>
                          </a:solidFill>
                          <a:latin typeface="Arial"/>
                        </a:rPr>
                        <a:t>2025/BSE/066/PS</a:t>
                      </a:r>
                    </a:p>
                  </a:txBody>
                  <a:tcPr/>
                </a:tc>
              </a:tr>
              <a:tr h="332509">
                <a:tc>
                  <a:txBody>
                    <a:bodyPr/>
                    <a:lstStyle/>
                    <a:p>
                      <a:pPr algn="l"/>
                      <a:r>
                        <a:rPr sz="1600" b="0">
                          <a:solidFill>
                            <a:srgbClr val="000000"/>
                          </a:solidFill>
                          <a:latin typeface="Arial"/>
                        </a:rPr>
                        <a:t>MUGENDAWALA MARK PAUL</a:t>
                      </a:r>
                    </a:p>
                  </a:txBody>
                  <a:tcPr>
                    <a:solidFill>
                      <a:srgbClr val="F5F5F5"/>
                    </a:solidFill>
                  </a:tcPr>
                </a:tc>
                <a:tc>
                  <a:txBody>
                    <a:bodyPr/>
                    <a:lstStyle/>
                    <a:p>
                      <a:pPr algn="l"/>
                      <a:r>
                        <a:rPr sz="1600" b="0">
                          <a:solidFill>
                            <a:srgbClr val="000000"/>
                          </a:solidFill>
                          <a:latin typeface="Arial"/>
                        </a:rPr>
                        <a:t>2025/BSE/108/PS</a:t>
                      </a:r>
                    </a:p>
                  </a:txBody>
                  <a:tcPr>
                    <a:solidFill>
                      <a:srgbClr val="F5F5F5"/>
                    </a:solidFill>
                  </a:tcPr>
                </a:tc>
              </a:tr>
              <a:tr h="332509">
                <a:tc>
                  <a:txBody>
                    <a:bodyPr/>
                    <a:lstStyle/>
                    <a:p>
                      <a:pPr algn="l"/>
                      <a:r>
                        <a:rPr sz="1600" b="0">
                          <a:solidFill>
                            <a:srgbClr val="000000"/>
                          </a:solidFill>
                          <a:latin typeface="Arial"/>
                        </a:rPr>
                        <a:t>DAMBYA RACHAEL</a:t>
                      </a:r>
                    </a:p>
                  </a:txBody>
                  <a:tcPr/>
                </a:tc>
                <a:tc>
                  <a:txBody>
                    <a:bodyPr/>
                    <a:lstStyle/>
                    <a:p>
                      <a:pPr algn="l"/>
                      <a:r>
                        <a:rPr sz="1600" b="0">
                          <a:solidFill>
                            <a:srgbClr val="000000"/>
                          </a:solidFill>
                          <a:latin typeface="Arial"/>
                        </a:rPr>
                        <a:t>2025/BSE/065/PS</a:t>
                      </a:r>
                    </a:p>
                  </a:txBody>
                  <a:tcPr/>
                </a:tc>
              </a:tr>
              <a:tr h="332509">
                <a:tc>
                  <a:txBody>
                    <a:bodyPr/>
                    <a:lstStyle/>
                    <a:p>
                      <a:pPr algn="l"/>
                      <a:r>
                        <a:rPr sz="1600" b="0">
                          <a:solidFill>
                            <a:srgbClr val="000000"/>
                          </a:solidFill>
                          <a:latin typeface="Arial"/>
                        </a:rPr>
                        <a:t>OFAMBA JAMES</a:t>
                      </a:r>
                    </a:p>
                  </a:txBody>
                  <a:tcPr>
                    <a:solidFill>
                      <a:srgbClr val="F5F5F5"/>
                    </a:solidFill>
                  </a:tcPr>
                </a:tc>
                <a:tc>
                  <a:txBody>
                    <a:bodyPr/>
                    <a:lstStyle/>
                    <a:p>
                      <a:pPr algn="l"/>
                      <a:r>
                        <a:rPr sz="1600" b="0">
                          <a:solidFill>
                            <a:srgbClr val="000000"/>
                          </a:solidFill>
                          <a:latin typeface="Arial"/>
                        </a:rPr>
                        <a:t>2025/BSE/143/PS</a:t>
                      </a:r>
                    </a:p>
                  </a:txBody>
                  <a:tcPr>
                    <a:solidFill>
                      <a:srgbClr val="F5F5F5"/>
                    </a:solidFill>
                  </a:tcPr>
                </a:tc>
              </a:tr>
              <a:tr h="332509">
                <a:tc>
                  <a:txBody>
                    <a:bodyPr/>
                    <a:lstStyle/>
                    <a:p>
                      <a:pPr algn="l"/>
                      <a:r>
                        <a:rPr sz="1600" b="0">
                          <a:solidFill>
                            <a:srgbClr val="000000"/>
                          </a:solidFill>
                          <a:latin typeface="Arial"/>
                        </a:rPr>
                        <a:t>OSUTA AMEN JOEL</a:t>
                      </a:r>
                    </a:p>
                  </a:txBody>
                  <a:tcPr/>
                </a:tc>
                <a:tc>
                  <a:txBody>
                    <a:bodyPr/>
                    <a:lstStyle/>
                    <a:p>
                      <a:pPr algn="l"/>
                      <a:r>
                        <a:rPr sz="1600" b="0">
                          <a:solidFill>
                            <a:srgbClr val="000000"/>
                          </a:solidFill>
                          <a:latin typeface="Arial"/>
                        </a:rPr>
                        <a:t>2025/BSE/152/PS</a:t>
                      </a:r>
                    </a:p>
                  </a:txBody>
                  <a:tcPr/>
                </a:tc>
              </a:tr>
              <a:tr h="332510">
                <a:tc>
                  <a:txBody>
                    <a:bodyPr/>
                    <a:lstStyle/>
                    <a:p>
                      <a:pPr algn="l"/>
                      <a:r>
                        <a:rPr sz="1600" b="0">
                          <a:solidFill>
                            <a:srgbClr val="000000"/>
                          </a:solidFill>
                          <a:latin typeface="Arial"/>
                        </a:rPr>
                        <a:t>MUSONIRWA IBRAHIM</a:t>
                      </a:r>
                    </a:p>
                  </a:txBody>
                  <a:tcPr>
                    <a:solidFill>
                      <a:srgbClr val="F5F5F5"/>
                    </a:solidFill>
                  </a:tcPr>
                </a:tc>
                <a:tc>
                  <a:txBody>
                    <a:bodyPr/>
                    <a:lstStyle/>
                    <a:p>
                      <a:pPr algn="l"/>
                      <a:r>
                        <a:rPr sz="1600" b="0">
                          <a:solidFill>
                            <a:srgbClr val="000000"/>
                          </a:solidFill>
                          <a:latin typeface="Arial"/>
                        </a:rPr>
                        <a:t>2025/BSE/218/PS</a:t>
                      </a:r>
                    </a:p>
                  </a:txBody>
                  <a:tcPr>
                    <a:solidFill>
                      <a:srgbClr val="F5F5F5"/>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a:spAutoFit/>
          </a:bodyPr>
          <a:lstStyle/>
          <a:p>
            <a:pPr algn="l"/>
            <a:r>
              <a:rPr sz="3200" b="1">
                <a:solidFill>
                  <a:srgbClr val="000000"/>
                </a:solidFill>
                <a:latin typeface="Arial"/>
              </a:rPr>
              <a:t>The Real Problem</a:t>
            </a:r>
          </a:p>
        </p:txBody>
      </p:sp>
      <p:sp>
        <p:nvSpPr>
          <p:cNvPr id="3" name="TextBox 2"/>
          <p:cNvSpPr txBox="1"/>
          <p:nvPr/>
        </p:nvSpPr>
        <p:spPr>
          <a:xfrm>
            <a:off x="640080" y="1463040"/>
            <a:ext cx="10972800" cy="548640"/>
          </a:xfrm>
          <a:prstGeom prst="rect">
            <a:avLst/>
          </a:prstGeom>
          <a:noFill/>
        </p:spPr>
        <p:txBody>
          <a:bodyPr wrap="square">
            <a:spAutoFit/>
          </a:bodyPr>
          <a:lstStyle/>
          <a:p>
            <a:pPr algn="l"/>
            <a:r>
              <a:rPr sz="2000" b="0">
                <a:solidFill>
                  <a:srgbClr val="000000"/>
                </a:solidFill>
                <a:latin typeface="Arial"/>
              </a:rPr>
              <a:t>Operational Bottlenecking and Cash Vulnerability</a:t>
            </a:r>
          </a:p>
        </p:txBody>
      </p:sp>
      <p:sp>
        <p:nvSpPr>
          <p:cNvPr id="4" name="TextBox 3"/>
          <p:cNvSpPr txBox="1"/>
          <p:nvPr/>
        </p:nvSpPr>
        <p:spPr>
          <a:xfrm>
            <a:off x="914400" y="2103120"/>
            <a:ext cx="10058400" cy="457200"/>
          </a:xfrm>
          <a:prstGeom prst="rect">
            <a:avLst/>
          </a:prstGeom>
          <a:noFill/>
        </p:spPr>
        <p:txBody>
          <a:bodyPr wrap="square">
            <a:spAutoFit/>
          </a:bodyPr>
          <a:lstStyle/>
          <a:p>
            <a:pPr algn="l"/>
            <a:r>
              <a:rPr sz="1800" b="0">
                <a:solidFill>
                  <a:srgbClr val="000000"/>
                </a:solidFill>
                <a:latin typeface="Arial"/>
              </a:rPr>
              <a:t>• The Super Manager Bottleneck: One person acts as supervisor, cashier, payroll distributor, and record keeper.</a:t>
            </a:r>
          </a:p>
        </p:txBody>
      </p:sp>
      <p:sp>
        <p:nvSpPr>
          <p:cNvPr id="5" name="TextBox 4"/>
          <p:cNvSpPr txBox="1"/>
          <p:nvPr/>
        </p:nvSpPr>
        <p:spPr>
          <a:xfrm>
            <a:off x="914400" y="2514600"/>
            <a:ext cx="10058400" cy="457200"/>
          </a:xfrm>
          <a:prstGeom prst="rect">
            <a:avLst/>
          </a:prstGeom>
          <a:noFill/>
        </p:spPr>
        <p:txBody>
          <a:bodyPr wrap="square">
            <a:spAutoFit/>
          </a:bodyPr>
          <a:lstStyle/>
          <a:p>
            <a:pPr algn="l"/>
            <a:r>
              <a:rPr sz="1800" b="0">
                <a:solidFill>
                  <a:srgbClr val="000000"/>
                </a:solidFill>
                <a:latin typeface="Arial"/>
              </a:rPr>
              <a:t>• Unexplained Cash Deficits: Manual computation of cash shortages at the end of the day without a tool to log operational expenses.</a:t>
            </a:r>
          </a:p>
        </p:txBody>
      </p:sp>
      <p:sp>
        <p:nvSpPr>
          <p:cNvPr id="6" name="TextBox 5"/>
          <p:cNvSpPr txBox="1"/>
          <p:nvPr/>
        </p:nvSpPr>
        <p:spPr>
          <a:xfrm>
            <a:off x="914400" y="2926080"/>
            <a:ext cx="10058400" cy="457200"/>
          </a:xfrm>
          <a:prstGeom prst="rect">
            <a:avLst/>
          </a:prstGeom>
          <a:noFill/>
        </p:spPr>
        <p:txBody>
          <a:bodyPr wrap="square">
            <a:spAutoFit/>
          </a:bodyPr>
          <a:lstStyle/>
          <a:p>
            <a:pPr algn="l"/>
            <a:r>
              <a:rPr sz="1800" b="0">
                <a:solidFill>
                  <a:srgbClr val="000000"/>
                </a:solidFill>
                <a:latin typeface="Arial"/>
              </a:rPr>
              <a:t>• Informal Labor Practices: Daily cash payouts based on memory, with no formal attendance tracking.</a:t>
            </a:r>
          </a:p>
        </p:txBody>
      </p:sp>
      <p:sp>
        <p:nvSpPr>
          <p:cNvPr id="7" name="TextBox 6"/>
          <p:cNvSpPr txBox="1"/>
          <p:nvPr/>
        </p:nvSpPr>
        <p:spPr>
          <a:xfrm>
            <a:off x="914400" y="3337560"/>
            <a:ext cx="10058400" cy="457200"/>
          </a:xfrm>
          <a:prstGeom prst="rect">
            <a:avLst/>
          </a:prstGeom>
          <a:noFill/>
        </p:spPr>
        <p:txBody>
          <a:bodyPr wrap="square">
            <a:spAutoFit/>
          </a:bodyPr>
          <a:lstStyle/>
          <a:p>
            <a:pPr algn="l"/>
            <a:r>
              <a:rPr sz="1800" b="0">
                <a:solidFill>
                  <a:srgbClr val="000000"/>
                </a:solidFill>
                <a:latin typeface="Arial"/>
              </a:rPr>
              <a:t>• Data Vulnerability: Records are kept in physical books and on a single local laptop with no cloud backup.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a:spAutoFit/>
          </a:bodyPr>
          <a:lstStyle/>
          <a:p>
            <a:pPr algn="l"/>
            <a:r>
              <a:rPr sz="3200" b="1">
                <a:solidFill>
                  <a:srgbClr val="000000"/>
                </a:solidFill>
                <a:latin typeface="Arial"/>
              </a:rPr>
              <a:t>Elicitation Techniques and Field Realities</a:t>
            </a:r>
          </a:p>
        </p:txBody>
      </p:sp>
      <p:sp>
        <p:nvSpPr>
          <p:cNvPr id="3" name="TextBox 2"/>
          <p:cNvSpPr txBox="1"/>
          <p:nvPr/>
        </p:nvSpPr>
        <p:spPr>
          <a:xfrm>
            <a:off x="640080" y="1463040"/>
            <a:ext cx="10972800" cy="548640"/>
          </a:xfrm>
          <a:prstGeom prst="rect">
            <a:avLst/>
          </a:prstGeom>
          <a:noFill/>
        </p:spPr>
        <p:txBody>
          <a:bodyPr wrap="square">
            <a:spAutoFit/>
          </a:bodyPr>
          <a:lstStyle/>
          <a:p>
            <a:pPr algn="l"/>
            <a:r>
              <a:rPr sz="2000" b="0">
                <a:solidFill>
                  <a:srgbClr val="000000"/>
                </a:solidFill>
                <a:latin typeface="Arial"/>
              </a:rPr>
              <a:t>What We Actually Observed</a:t>
            </a:r>
          </a:p>
        </p:txBody>
      </p:sp>
      <p:sp>
        <p:nvSpPr>
          <p:cNvPr id="4" name="TextBox 3"/>
          <p:cNvSpPr txBox="1"/>
          <p:nvPr/>
        </p:nvSpPr>
        <p:spPr>
          <a:xfrm>
            <a:off x="914400" y="2103120"/>
            <a:ext cx="10058400" cy="457200"/>
          </a:xfrm>
          <a:prstGeom prst="rect">
            <a:avLst/>
          </a:prstGeom>
          <a:noFill/>
        </p:spPr>
        <p:txBody>
          <a:bodyPr wrap="square">
            <a:spAutoFit/>
          </a:bodyPr>
          <a:lstStyle/>
          <a:p>
            <a:pPr algn="l"/>
            <a:r>
              <a:rPr sz="1800" b="0">
                <a:solidFill>
                  <a:srgbClr val="000000"/>
                </a:solidFill>
                <a:latin typeface="Arial"/>
              </a:rPr>
              <a:t>• Direct Observation: The laptop was powered on and actively used during the day. A printer is on site, and physical receipts were being printed for customers as trucks loaded.</a:t>
            </a:r>
          </a:p>
        </p:txBody>
      </p:sp>
      <p:sp>
        <p:nvSpPr>
          <p:cNvPr id="5" name="TextBox 4"/>
          <p:cNvSpPr txBox="1"/>
          <p:nvPr/>
        </p:nvSpPr>
        <p:spPr>
          <a:xfrm>
            <a:off x="914400" y="2514600"/>
            <a:ext cx="10058400" cy="457200"/>
          </a:xfrm>
          <a:prstGeom prst="rect">
            <a:avLst/>
          </a:prstGeom>
          <a:noFill/>
        </p:spPr>
        <p:txBody>
          <a:bodyPr wrap="square">
            <a:spAutoFit/>
          </a:bodyPr>
          <a:lstStyle/>
          <a:p>
            <a:pPr algn="l"/>
            <a:r>
              <a:rPr sz="1800" b="0">
                <a:solidFill>
                  <a:srgbClr val="000000"/>
                </a:solidFill>
                <a:latin typeface="Arial"/>
              </a:rPr>
              <a:t>• Semi Structured Interview: Conducted with the Sales Manager to understand payment channels (Cash, Mobile Money, Bank), tax filing processes, and primary pain points regarding cash insecurity.</a:t>
            </a:r>
          </a:p>
        </p:txBody>
      </p:sp>
      <p:sp>
        <p:nvSpPr>
          <p:cNvPr id="6" name="TextBox 5"/>
          <p:cNvSpPr txBox="1"/>
          <p:nvPr/>
        </p:nvSpPr>
        <p:spPr>
          <a:xfrm>
            <a:off x="914400" y="2926080"/>
            <a:ext cx="10058400" cy="457200"/>
          </a:xfrm>
          <a:prstGeom prst="rect">
            <a:avLst/>
          </a:prstGeom>
          <a:noFill/>
        </p:spPr>
        <p:txBody>
          <a:bodyPr wrap="square">
            <a:spAutoFit/>
          </a:bodyPr>
          <a:lstStyle/>
          <a:p>
            <a:pPr algn="l"/>
            <a:r>
              <a:rPr sz="1800" b="0">
                <a:solidFill>
                  <a:srgbClr val="000000"/>
                </a:solidFill>
                <a:latin typeface="Arial"/>
              </a:rPr>
              <a:t>• Environmental Scan: Customers transport their own goods. Trucks load in bulk. Site has CCTV cameras, indicating baseline security awareness.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a:spAutoFit/>
          </a:bodyPr>
          <a:lstStyle/>
          <a:p>
            <a:pPr algn="l"/>
            <a:r>
              <a:rPr sz="3200" b="1">
                <a:solidFill>
                  <a:srgbClr val="000000"/>
                </a:solidFill>
                <a:latin typeface="Arial"/>
              </a:rPr>
              <a:t>Challenges in Elicitation</a:t>
            </a:r>
          </a:p>
        </p:txBody>
      </p:sp>
      <p:sp>
        <p:nvSpPr>
          <p:cNvPr id="3" name="TextBox 2"/>
          <p:cNvSpPr txBox="1"/>
          <p:nvPr/>
        </p:nvSpPr>
        <p:spPr>
          <a:xfrm>
            <a:off x="640080" y="1463040"/>
            <a:ext cx="10972800" cy="548640"/>
          </a:xfrm>
          <a:prstGeom prst="rect">
            <a:avLst/>
          </a:prstGeom>
          <a:noFill/>
        </p:spPr>
        <p:txBody>
          <a:bodyPr wrap="square">
            <a:spAutoFit/>
          </a:bodyPr>
          <a:lstStyle/>
          <a:p>
            <a:pPr algn="l"/>
            <a:r>
              <a:rPr sz="2000" b="0">
                <a:solidFill>
                  <a:srgbClr val="000000"/>
                </a:solidFill>
                <a:latin typeface="Arial"/>
              </a:rPr>
              <a:t>Documented Limitations</a:t>
            </a:r>
          </a:p>
        </p:txBody>
      </p:sp>
      <p:sp>
        <p:nvSpPr>
          <p:cNvPr id="4" name="TextBox 3"/>
          <p:cNvSpPr txBox="1"/>
          <p:nvPr/>
        </p:nvSpPr>
        <p:spPr>
          <a:xfrm>
            <a:off x="914400" y="2103120"/>
            <a:ext cx="10058400" cy="457200"/>
          </a:xfrm>
          <a:prstGeom prst="rect">
            <a:avLst/>
          </a:prstGeom>
          <a:noFill/>
        </p:spPr>
        <p:txBody>
          <a:bodyPr wrap="square">
            <a:spAutoFit/>
          </a:bodyPr>
          <a:lstStyle/>
          <a:p>
            <a:pPr algn="l"/>
            <a:r>
              <a:rPr sz="1800" b="0">
                <a:solidFill>
                  <a:srgbClr val="000000"/>
                </a:solidFill>
                <a:latin typeface="Arial"/>
              </a:rPr>
              <a:t>• The Gatekeeper Effect: The Sales Manager was hesitant to share deep financial workflows, such as exact tax calculations and cash storage protocols.</a:t>
            </a:r>
          </a:p>
        </p:txBody>
      </p:sp>
      <p:sp>
        <p:nvSpPr>
          <p:cNvPr id="5" name="TextBox 4"/>
          <p:cNvSpPr txBox="1"/>
          <p:nvPr/>
        </p:nvSpPr>
        <p:spPr>
          <a:xfrm>
            <a:off x="914400" y="2514600"/>
            <a:ext cx="10058400" cy="457200"/>
          </a:xfrm>
          <a:prstGeom prst="rect">
            <a:avLst/>
          </a:prstGeom>
          <a:noFill/>
        </p:spPr>
        <p:txBody>
          <a:bodyPr wrap="square">
            <a:spAutoFit/>
          </a:bodyPr>
          <a:lstStyle/>
          <a:p>
            <a:pPr algn="l"/>
            <a:r>
              <a:rPr sz="1800" b="0">
                <a:solidFill>
                  <a:srgbClr val="000000"/>
                </a:solidFill>
                <a:latin typeface="Arial"/>
              </a:rPr>
              <a:t>• Inaccessibility: The Business Owner, Site Workers, and Secretary could not be approached directly. These are unresolvable gaps.</a:t>
            </a:r>
          </a:p>
        </p:txBody>
      </p:sp>
      <p:sp>
        <p:nvSpPr>
          <p:cNvPr id="6" name="TextBox 5"/>
          <p:cNvSpPr txBox="1"/>
          <p:nvPr/>
        </p:nvSpPr>
        <p:spPr>
          <a:xfrm>
            <a:off x="914400" y="2926080"/>
            <a:ext cx="10058400" cy="457200"/>
          </a:xfrm>
          <a:prstGeom prst="rect">
            <a:avLst/>
          </a:prstGeom>
          <a:noFill/>
        </p:spPr>
        <p:txBody>
          <a:bodyPr wrap="square">
            <a:spAutoFit/>
          </a:bodyPr>
          <a:lstStyle/>
          <a:p>
            <a:pPr algn="l"/>
            <a:r>
              <a:rPr sz="1800" b="0">
                <a:solidFill>
                  <a:srgbClr val="000000"/>
                </a:solidFill>
                <a:latin typeface="Arial"/>
              </a:rPr>
              <a:t>• No Follow up Feasibility: The Sales Manager was unwilling to provide further information, and a return visit to the site is not possible. The project scope is locked.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a:spAutoFit/>
          </a:bodyPr>
          <a:lstStyle/>
          <a:p>
            <a:pPr algn="l"/>
            <a:r>
              <a:rPr sz="3200" b="1">
                <a:solidFill>
                  <a:srgbClr val="000000"/>
                </a:solidFill>
                <a:latin typeface="Arial"/>
              </a:rPr>
              <a:t>Strategic Business Synthesis</a:t>
            </a:r>
          </a:p>
        </p:txBody>
      </p:sp>
      <p:sp>
        <p:nvSpPr>
          <p:cNvPr id="3" name="TextBox 2"/>
          <p:cNvSpPr txBox="1"/>
          <p:nvPr/>
        </p:nvSpPr>
        <p:spPr>
          <a:xfrm>
            <a:off x="640080" y="1463040"/>
            <a:ext cx="10972800" cy="548640"/>
          </a:xfrm>
          <a:prstGeom prst="rect">
            <a:avLst/>
          </a:prstGeom>
          <a:noFill/>
        </p:spPr>
        <p:txBody>
          <a:bodyPr wrap="square">
            <a:spAutoFit/>
          </a:bodyPr>
          <a:lstStyle/>
          <a:p>
            <a:pPr algn="l"/>
            <a:r>
              <a:rPr sz="2000" b="0">
                <a:solidFill>
                  <a:srgbClr val="000000"/>
                </a:solidFill>
                <a:latin typeface="Arial"/>
              </a:rPr>
              <a:t>How We Bridged the Information Gaps</a:t>
            </a:r>
          </a:p>
        </p:txBody>
      </p:sp>
      <p:sp>
        <p:nvSpPr>
          <p:cNvPr id="4" name="TextBox 3"/>
          <p:cNvSpPr txBox="1"/>
          <p:nvPr/>
        </p:nvSpPr>
        <p:spPr>
          <a:xfrm>
            <a:off x="914400" y="2103120"/>
            <a:ext cx="10058400" cy="457200"/>
          </a:xfrm>
          <a:prstGeom prst="rect">
            <a:avLst/>
          </a:prstGeom>
          <a:noFill/>
        </p:spPr>
        <p:txBody>
          <a:bodyPr wrap="square">
            <a:spAutoFit/>
          </a:bodyPr>
          <a:lstStyle/>
          <a:p>
            <a:pPr algn="l"/>
            <a:r>
              <a:rPr sz="1800" b="0">
                <a:solidFill>
                  <a:srgbClr val="000000"/>
                </a:solidFill>
                <a:latin typeface="Arial"/>
              </a:rPr>
              <a:t>• Deficit Root Cause: In cash heavy local SMEs, end of day shortages are rarely theft. They are almost always unrecorded petty cash expenses. The system must allow logging of these expenses to balance the till.</a:t>
            </a:r>
          </a:p>
        </p:txBody>
      </p:sp>
      <p:sp>
        <p:nvSpPr>
          <p:cNvPr id="5" name="TextBox 4"/>
          <p:cNvSpPr txBox="1"/>
          <p:nvPr/>
        </p:nvSpPr>
        <p:spPr>
          <a:xfrm>
            <a:off x="914400" y="2514600"/>
            <a:ext cx="10058400" cy="457200"/>
          </a:xfrm>
          <a:prstGeom prst="rect">
            <a:avLst/>
          </a:prstGeom>
          <a:noFill/>
        </p:spPr>
        <p:txBody>
          <a:bodyPr wrap="square">
            <a:spAutoFit/>
          </a:bodyPr>
          <a:lstStyle/>
          <a:p>
            <a:pPr algn="l"/>
            <a:r>
              <a:rPr sz="1800" b="0">
                <a:solidFill>
                  <a:srgbClr val="000000"/>
                </a:solidFill>
                <a:latin typeface="Arial"/>
              </a:rPr>
              <a:t>• Dual Phase Workflow: Because physical receipts are printed during the day, the system cannot be evening only. It must support real time transaction processing, followed by a dedicated evening reconciliation module.</a:t>
            </a:r>
          </a:p>
        </p:txBody>
      </p:sp>
      <p:sp>
        <p:nvSpPr>
          <p:cNvPr id="6" name="TextBox 5"/>
          <p:cNvSpPr txBox="1"/>
          <p:nvPr/>
        </p:nvSpPr>
        <p:spPr>
          <a:xfrm>
            <a:off x="914400" y="2926080"/>
            <a:ext cx="10058400" cy="457200"/>
          </a:xfrm>
          <a:prstGeom prst="rect">
            <a:avLst/>
          </a:prstGeom>
          <a:noFill/>
        </p:spPr>
        <p:txBody>
          <a:bodyPr wrap="square">
            <a:spAutoFit/>
          </a:bodyPr>
          <a:lstStyle/>
          <a:p>
            <a:pPr algn="l"/>
            <a:r>
              <a:rPr sz="1800" b="0">
                <a:solidFill>
                  <a:srgbClr val="000000"/>
                </a:solidFill>
                <a:latin typeface="Arial"/>
              </a:rPr>
              <a:t>• Remote Access Reality: Since the owner visits daily, a live remote dashboard is unnecessary. Cloud technology is strictly for automated nightly disaster recovery and asynchronous historical review.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a:spAutoFit/>
          </a:bodyPr>
          <a:lstStyle/>
          <a:p>
            <a:pPr algn="l"/>
            <a:r>
              <a:rPr sz="3200" b="1">
                <a:solidFill>
                  <a:srgbClr val="000000"/>
                </a:solidFill>
                <a:latin typeface="Arial"/>
              </a:rPr>
              <a:t>The Proposed Solution</a:t>
            </a:r>
          </a:p>
        </p:txBody>
      </p:sp>
      <p:sp>
        <p:nvSpPr>
          <p:cNvPr id="3" name="TextBox 2"/>
          <p:cNvSpPr txBox="1"/>
          <p:nvPr/>
        </p:nvSpPr>
        <p:spPr>
          <a:xfrm>
            <a:off x="640080" y="1463040"/>
            <a:ext cx="10972800" cy="548640"/>
          </a:xfrm>
          <a:prstGeom prst="rect">
            <a:avLst/>
          </a:prstGeom>
          <a:noFill/>
        </p:spPr>
        <p:txBody>
          <a:bodyPr wrap="square">
            <a:spAutoFit/>
          </a:bodyPr>
          <a:lstStyle/>
          <a:p>
            <a:pPr algn="l"/>
            <a:r>
              <a:rPr sz="2000" b="0">
                <a:solidFill>
                  <a:srgbClr val="000000"/>
                </a:solidFill>
                <a:latin typeface="Arial"/>
              </a:rPr>
              <a:t>Dual Phase Operations Management System</a:t>
            </a:r>
          </a:p>
        </p:txBody>
      </p:sp>
      <p:sp>
        <p:nvSpPr>
          <p:cNvPr id="4" name="TextBox 3"/>
          <p:cNvSpPr txBox="1"/>
          <p:nvPr/>
        </p:nvSpPr>
        <p:spPr>
          <a:xfrm>
            <a:off x="914400" y="2103120"/>
            <a:ext cx="10058400" cy="457200"/>
          </a:xfrm>
          <a:prstGeom prst="rect">
            <a:avLst/>
          </a:prstGeom>
          <a:noFill/>
        </p:spPr>
        <p:txBody>
          <a:bodyPr wrap="square">
            <a:spAutoFit/>
          </a:bodyPr>
          <a:lstStyle/>
          <a:p>
            <a:pPr algn="l"/>
            <a:r>
              <a:rPr sz="1800" b="0">
                <a:solidFill>
                  <a:srgbClr val="000000"/>
                </a:solidFill>
                <a:latin typeface="Arial"/>
              </a:rPr>
              <a:t>• Phase 1: Real Time Point of Sale. During the day, the system processes individual sales, calculates VAT, updates inventory, and prints physical receipts.</a:t>
            </a:r>
          </a:p>
        </p:txBody>
      </p:sp>
      <p:sp>
        <p:nvSpPr>
          <p:cNvPr id="5" name="TextBox 4"/>
          <p:cNvSpPr txBox="1"/>
          <p:nvPr/>
        </p:nvSpPr>
        <p:spPr>
          <a:xfrm>
            <a:off x="914400" y="2514600"/>
            <a:ext cx="10058400" cy="457200"/>
          </a:xfrm>
          <a:prstGeom prst="rect">
            <a:avLst/>
          </a:prstGeom>
          <a:noFill/>
        </p:spPr>
        <p:txBody>
          <a:bodyPr wrap="square">
            <a:spAutoFit/>
          </a:bodyPr>
          <a:lstStyle/>
          <a:p>
            <a:pPr algn="l"/>
            <a:r>
              <a:rPr sz="1800" b="0">
                <a:solidFill>
                  <a:srgbClr val="000000"/>
                </a:solidFill>
                <a:latin typeface="Arial"/>
              </a:rPr>
              <a:t>• Phase 2: End of Day Reconciliation. In the evening, the system allows the Sales Manager to balance multi channel payment drawers, log operational expenses, compute cash variances, and generate a final daily summary report for the Business Owner.</a:t>
            </a:r>
          </a:p>
        </p:txBody>
      </p:sp>
      <p:sp>
        <p:nvSpPr>
          <p:cNvPr id="6" name="TextBox 5"/>
          <p:cNvSpPr txBox="1"/>
          <p:nvPr/>
        </p:nvSpPr>
        <p:spPr>
          <a:xfrm>
            <a:off x="914400" y="2926080"/>
            <a:ext cx="10058400" cy="457200"/>
          </a:xfrm>
          <a:prstGeom prst="rect">
            <a:avLst/>
          </a:prstGeom>
          <a:noFill/>
        </p:spPr>
        <p:txBody>
          <a:bodyPr wrap="square">
            <a:spAutoFit/>
          </a:bodyPr>
          <a:lstStyle/>
          <a:p>
            <a:pPr algn="l"/>
            <a:r>
              <a:rPr sz="1800" b="0">
                <a:solidFill>
                  <a:srgbClr val="000000"/>
                </a:solidFill>
                <a:latin typeface="Arial"/>
              </a:rPr>
              <a:t>• Excluded Features: Credit and debtors modules are excluded, as the business operates on a strict no credit policy.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a:spAutoFit/>
          </a:bodyPr>
          <a:lstStyle/>
          <a:p>
            <a:pPr algn="l"/>
            <a:r>
              <a:rPr sz="3200" b="1">
                <a:solidFill>
                  <a:srgbClr val="000000"/>
                </a:solidFill>
                <a:latin typeface="Arial"/>
              </a:rPr>
              <a:t>Database Architecture for SWE1205</a:t>
            </a:r>
          </a:p>
        </p:txBody>
      </p:sp>
      <p:sp>
        <p:nvSpPr>
          <p:cNvPr id="3" name="TextBox 2"/>
          <p:cNvSpPr txBox="1"/>
          <p:nvPr/>
        </p:nvSpPr>
        <p:spPr>
          <a:xfrm>
            <a:off x="640080" y="1463040"/>
            <a:ext cx="10972800" cy="548640"/>
          </a:xfrm>
          <a:prstGeom prst="rect">
            <a:avLst/>
          </a:prstGeom>
          <a:noFill/>
        </p:spPr>
        <p:txBody>
          <a:bodyPr wrap="square">
            <a:spAutoFit/>
          </a:bodyPr>
          <a:lstStyle/>
          <a:p>
            <a:pPr algn="l"/>
            <a:r>
              <a:rPr sz="2000" b="0">
                <a:solidFill>
                  <a:srgbClr val="000000"/>
                </a:solidFill>
                <a:latin typeface="Arial"/>
              </a:rPr>
              <a:t>Advanced SQL Implementation</a:t>
            </a:r>
          </a:p>
        </p:txBody>
      </p:sp>
      <p:sp>
        <p:nvSpPr>
          <p:cNvPr id="4" name="TextBox 3"/>
          <p:cNvSpPr txBox="1"/>
          <p:nvPr/>
        </p:nvSpPr>
        <p:spPr>
          <a:xfrm>
            <a:off x="914400" y="2103120"/>
            <a:ext cx="10058400" cy="457200"/>
          </a:xfrm>
          <a:prstGeom prst="rect">
            <a:avLst/>
          </a:prstGeom>
          <a:noFill/>
        </p:spPr>
        <p:txBody>
          <a:bodyPr wrap="square">
            <a:spAutoFit/>
          </a:bodyPr>
          <a:lstStyle/>
          <a:p>
            <a:pPr algn="l"/>
            <a:r>
              <a:rPr sz="1800" b="0">
                <a:solidFill>
                  <a:srgbClr val="000000"/>
                </a:solidFill>
                <a:latin typeface="Arial"/>
              </a:rPr>
              <a:t>• Normalization: Database normalized to 3NF to eliminate redundancy across Workers, Attendance, Products, Sales, and Operational Expenses.</a:t>
            </a:r>
          </a:p>
        </p:txBody>
      </p:sp>
      <p:sp>
        <p:nvSpPr>
          <p:cNvPr id="5" name="TextBox 4"/>
          <p:cNvSpPr txBox="1"/>
          <p:nvPr/>
        </p:nvSpPr>
        <p:spPr>
          <a:xfrm>
            <a:off x="914400" y="2514600"/>
            <a:ext cx="10058400" cy="457200"/>
          </a:xfrm>
          <a:prstGeom prst="rect">
            <a:avLst/>
          </a:prstGeom>
          <a:noFill/>
        </p:spPr>
        <p:txBody>
          <a:bodyPr wrap="square">
            <a:spAutoFit/>
          </a:bodyPr>
          <a:lstStyle/>
          <a:p>
            <a:pPr algn="l"/>
            <a:r>
              <a:rPr sz="1800" b="0">
                <a:solidFill>
                  <a:srgbClr val="000000"/>
                </a:solidFill>
                <a:latin typeface="Arial"/>
              </a:rPr>
              <a:t>• Stored Procedures: CalculateVAT fetches the rate from a System Settings table and applies it to the subtotal.</a:t>
            </a:r>
          </a:p>
        </p:txBody>
      </p:sp>
      <p:sp>
        <p:nvSpPr>
          <p:cNvPr id="6" name="TextBox 5"/>
          <p:cNvSpPr txBox="1"/>
          <p:nvPr/>
        </p:nvSpPr>
        <p:spPr>
          <a:xfrm>
            <a:off x="914400" y="2926080"/>
            <a:ext cx="10058400" cy="457200"/>
          </a:xfrm>
          <a:prstGeom prst="rect">
            <a:avLst/>
          </a:prstGeom>
          <a:noFill/>
        </p:spPr>
        <p:txBody>
          <a:bodyPr wrap="square">
            <a:spAutoFit/>
          </a:bodyPr>
          <a:lstStyle/>
          <a:p>
            <a:pPr algn="l"/>
            <a:r>
              <a:rPr sz="1800" b="0">
                <a:solidFill>
                  <a:srgbClr val="000000"/>
                </a:solidFill>
                <a:latin typeface="Arial"/>
              </a:rPr>
              <a:t>• Triggers: TRG Sales Insert automatically reduces Current Stock in the Products table upon sale insertion.</a:t>
            </a:r>
          </a:p>
        </p:txBody>
      </p:sp>
      <p:sp>
        <p:nvSpPr>
          <p:cNvPr id="7" name="TextBox 6"/>
          <p:cNvSpPr txBox="1"/>
          <p:nvPr/>
        </p:nvSpPr>
        <p:spPr>
          <a:xfrm>
            <a:off x="914400" y="3337560"/>
            <a:ext cx="10058400" cy="457200"/>
          </a:xfrm>
          <a:prstGeom prst="rect">
            <a:avLst/>
          </a:prstGeom>
          <a:noFill/>
        </p:spPr>
        <p:txBody>
          <a:bodyPr wrap="square">
            <a:spAutoFit/>
          </a:bodyPr>
          <a:lstStyle/>
          <a:p>
            <a:pPr algn="l"/>
            <a:r>
              <a:rPr sz="1800" b="0">
                <a:solidFill>
                  <a:srgbClr val="000000"/>
                </a:solidFill>
                <a:latin typeface="Arial"/>
              </a:rPr>
              <a:t>• Role Based Access Control: Views like View Owner Profitability are strictly restricted to the Business Owner role.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a:spAutoFit/>
          </a:bodyPr>
          <a:lstStyle/>
          <a:p>
            <a:pPr algn="l"/>
            <a:r>
              <a:rPr sz="3200" b="1">
                <a:solidFill>
                  <a:srgbClr val="000000"/>
                </a:solidFill>
                <a:latin typeface="Arial"/>
              </a:rPr>
              <a:t>Requirements Traceability</a:t>
            </a:r>
          </a:p>
        </p:txBody>
      </p:sp>
      <p:sp>
        <p:nvSpPr>
          <p:cNvPr id="3" name="TextBox 2"/>
          <p:cNvSpPr txBox="1"/>
          <p:nvPr/>
        </p:nvSpPr>
        <p:spPr>
          <a:xfrm>
            <a:off x="640080" y="1463040"/>
            <a:ext cx="10972800" cy="548640"/>
          </a:xfrm>
          <a:prstGeom prst="rect">
            <a:avLst/>
          </a:prstGeom>
          <a:noFill/>
        </p:spPr>
        <p:txBody>
          <a:bodyPr wrap="square">
            <a:spAutoFit/>
          </a:bodyPr>
          <a:lstStyle/>
          <a:p>
            <a:pPr algn="l"/>
            <a:r>
              <a:rPr sz="2000" b="0">
                <a:solidFill>
                  <a:srgbClr val="000000"/>
                </a:solidFill>
                <a:latin typeface="Arial"/>
              </a:rPr>
              <a:t>Linking Problems to Code</a:t>
            </a:r>
          </a:p>
        </p:txBody>
      </p:sp>
      <p:graphicFrame>
        <p:nvGraphicFramePr>
          <p:cNvPr id="4" name="Table 3"/>
          <p:cNvGraphicFramePr>
            <a:graphicFrameLocks noGrp="1"/>
          </p:cNvGraphicFramePr>
          <p:nvPr/>
        </p:nvGraphicFramePr>
        <p:xfrm>
          <a:off x="640080" y="2103120"/>
          <a:ext cx="10515600" cy="1463040"/>
        </p:xfrm>
        <a:graphic>
          <a:graphicData uri="http://schemas.openxmlformats.org/drawingml/2006/table">
            <a:tbl>
              <a:tblPr firstRow="1" bandRow="1">
                <a:tableStyleId>{5C22544A-7EE6-4342-B048-85BDC9FD1C3A}</a:tableStyleId>
              </a:tblPr>
              <a:tblGrid>
                <a:gridCol w="2628900"/>
                <a:gridCol w="2628900"/>
                <a:gridCol w="2628900"/>
                <a:gridCol w="2628900"/>
              </a:tblGrid>
              <a:tr h="365760">
                <a:tc>
                  <a:txBody>
                    <a:bodyPr/>
                    <a:lstStyle/>
                    <a:p>
                      <a:pPr algn="ctr"/>
                      <a:r>
                        <a:rPr sz="1600" b="1">
                          <a:solidFill>
                            <a:srgbClr val="000000"/>
                          </a:solidFill>
                          <a:latin typeface="Arial"/>
                        </a:rPr>
                        <a:t>Ground Problem</a:t>
                      </a:r>
                    </a:p>
                  </a:txBody>
                  <a:tcPr>
                    <a:solidFill>
                      <a:srgbClr val="F0F0F0"/>
                    </a:solidFill>
                  </a:tcPr>
                </a:tc>
                <a:tc>
                  <a:txBody>
                    <a:bodyPr/>
                    <a:lstStyle/>
                    <a:p>
                      <a:pPr algn="ctr"/>
                      <a:r>
                        <a:rPr sz="1600" b="1">
                          <a:solidFill>
                            <a:srgbClr val="000000"/>
                          </a:solidFill>
                          <a:latin typeface="Arial"/>
                        </a:rPr>
                        <a:t>Requirement ID</a:t>
                      </a:r>
                    </a:p>
                  </a:txBody>
                  <a:tcPr>
                    <a:solidFill>
                      <a:srgbClr val="F0F0F0"/>
                    </a:solidFill>
                  </a:tcPr>
                </a:tc>
                <a:tc>
                  <a:txBody>
                    <a:bodyPr/>
                    <a:lstStyle/>
                    <a:p>
                      <a:pPr algn="ctr"/>
                      <a:r>
                        <a:rPr sz="1600" b="1">
                          <a:solidFill>
                            <a:srgbClr val="000000"/>
                          </a:solidFill>
                          <a:latin typeface="Arial"/>
                        </a:rPr>
                        <a:t>Requirement Description</a:t>
                      </a:r>
                    </a:p>
                  </a:txBody>
                  <a:tcPr>
                    <a:solidFill>
                      <a:srgbClr val="F0F0F0"/>
                    </a:solidFill>
                  </a:tcPr>
                </a:tc>
                <a:tc>
                  <a:txBody>
                    <a:bodyPr/>
                    <a:lstStyle/>
                    <a:p>
                      <a:pPr algn="ctr"/>
                      <a:r>
                        <a:rPr sz="1600" b="1">
                          <a:solidFill>
                            <a:srgbClr val="000000"/>
                          </a:solidFill>
                          <a:latin typeface="Arial"/>
                        </a:rPr>
                        <a:t>Database Implementation</a:t>
                      </a:r>
                    </a:p>
                  </a:txBody>
                  <a:tcPr>
                    <a:solidFill>
                      <a:srgbClr val="F0F0F0"/>
                    </a:solidFill>
                  </a:tcPr>
                </a:tc>
              </a:tr>
              <a:tr h="365760">
                <a:tc>
                  <a:txBody>
                    <a:bodyPr/>
                    <a:lstStyle/>
                    <a:p>
                      <a:pPr algn="l"/>
                      <a:r>
                        <a:rPr sz="1600" b="0">
                          <a:solidFill>
                            <a:srgbClr val="000000"/>
                          </a:solidFill>
                          <a:latin typeface="Arial"/>
                        </a:rPr>
                        <a:t>Unexplained cash deficits</a:t>
                      </a:r>
                    </a:p>
                  </a:txBody>
                  <a:tcPr/>
                </a:tc>
                <a:tc>
                  <a:txBody>
                    <a:bodyPr/>
                    <a:lstStyle/>
                    <a:p>
                      <a:pPr algn="l"/>
                      <a:r>
                        <a:rPr sz="1600" b="0">
                          <a:solidFill>
                            <a:srgbClr val="000000"/>
                          </a:solidFill>
                          <a:latin typeface="Arial"/>
                        </a:rPr>
                        <a:t>REQ-FUN-EXP-01</a:t>
                      </a:r>
                    </a:p>
                  </a:txBody>
                  <a:tcPr/>
                </a:tc>
                <a:tc>
                  <a:txBody>
                    <a:bodyPr/>
                    <a:lstStyle/>
                    <a:p>
                      <a:pPr algn="l"/>
                      <a:r>
                        <a:rPr sz="1600" b="0">
                          <a:solidFill>
                            <a:srgbClr val="000000"/>
                          </a:solidFill>
                          <a:latin typeface="Arial"/>
                        </a:rPr>
                        <a:t>Operational Expense module</a:t>
                      </a:r>
                    </a:p>
                  </a:txBody>
                  <a:tcPr/>
                </a:tc>
                <a:tc>
                  <a:txBody>
                    <a:bodyPr/>
                    <a:lstStyle/>
                    <a:p>
                      <a:pPr algn="l"/>
                      <a:r>
                        <a:rPr sz="1600" b="0">
                          <a:solidFill>
                            <a:srgbClr val="000000"/>
                          </a:solidFill>
                          <a:latin typeface="Arial"/>
                        </a:rPr>
                        <a:t>Table: Operational_Expenses, Trigger: TRG Expense Insert</a:t>
                      </a:r>
                    </a:p>
                  </a:txBody>
                  <a:tcPr/>
                </a:tc>
              </a:tr>
              <a:tr h="365760">
                <a:tc>
                  <a:txBody>
                    <a:bodyPr/>
                    <a:lstStyle/>
                    <a:p>
                      <a:pPr algn="l"/>
                      <a:r>
                        <a:rPr sz="1600" b="0">
                          <a:solidFill>
                            <a:srgbClr val="000000"/>
                          </a:solidFill>
                          <a:latin typeface="Arial"/>
                        </a:rPr>
                        <a:t>Informal labor tracking and ghost worker risk</a:t>
                      </a:r>
                    </a:p>
                  </a:txBody>
                  <a:tcPr>
                    <a:solidFill>
                      <a:srgbClr val="F5F5F5"/>
                    </a:solidFill>
                  </a:tcPr>
                </a:tc>
                <a:tc>
                  <a:txBody>
                    <a:bodyPr/>
                    <a:lstStyle/>
                    <a:p>
                      <a:pPr algn="l"/>
                      <a:r>
                        <a:rPr sz="1600" b="0">
                          <a:solidFill>
                            <a:srgbClr val="000000"/>
                          </a:solidFill>
                          <a:latin typeface="Arial"/>
                        </a:rPr>
                        <a:t>REQ-FUN-ATT-02</a:t>
                      </a:r>
                    </a:p>
                  </a:txBody>
                  <a:tcPr>
                    <a:solidFill>
                      <a:srgbClr val="F5F5F5"/>
                    </a:solidFill>
                  </a:tcPr>
                </a:tc>
                <a:tc>
                  <a:txBody>
                    <a:bodyPr/>
                    <a:lstStyle/>
                    <a:p>
                      <a:pPr algn="l"/>
                      <a:r>
                        <a:rPr sz="1600" b="0">
                          <a:solidFill>
                            <a:srgbClr val="000000"/>
                          </a:solidFill>
                          <a:latin typeface="Arial"/>
                        </a:rPr>
                        <a:t>Reject duplicate attendance entries</a:t>
                      </a:r>
                    </a:p>
                  </a:txBody>
                  <a:tcPr>
                    <a:solidFill>
                      <a:srgbClr val="F5F5F5"/>
                    </a:solidFill>
                  </a:tcPr>
                </a:tc>
                <a:tc>
                  <a:txBody>
                    <a:bodyPr/>
                    <a:lstStyle/>
                    <a:p>
                      <a:pPr algn="l"/>
                      <a:r>
                        <a:rPr sz="1600" b="0">
                          <a:solidFill>
                            <a:srgbClr val="000000"/>
                          </a:solidFill>
                          <a:latin typeface="Arial"/>
                        </a:rPr>
                        <a:t>Table: Attendance (Composite Unique Key)</a:t>
                      </a:r>
                    </a:p>
                  </a:txBody>
                  <a:tcPr>
                    <a:solidFill>
                      <a:srgbClr val="F5F5F5"/>
                    </a:solidFill>
                  </a:tcPr>
                </a:tc>
              </a:tr>
              <a:tr h="365760">
                <a:tc>
                  <a:txBody>
                    <a:bodyPr/>
                    <a:lstStyle/>
                    <a:p>
                      <a:pPr algn="l"/>
                      <a:r>
                        <a:rPr sz="1600" b="0">
                          <a:solidFill>
                            <a:srgbClr val="000000"/>
                          </a:solidFill>
                          <a:latin typeface="Arial"/>
                        </a:rPr>
                        <a:t>Manual URA tax transcription errors</a:t>
                      </a:r>
                    </a:p>
                  </a:txBody>
                  <a:tcPr/>
                </a:tc>
                <a:tc>
                  <a:txBody>
                    <a:bodyPr/>
                    <a:lstStyle/>
                    <a:p>
                      <a:pPr algn="l"/>
                      <a:r>
                        <a:rPr sz="1600" b="0">
                          <a:solidFill>
                            <a:srgbClr val="000000"/>
                          </a:solidFill>
                          <a:latin typeface="Arial"/>
                        </a:rPr>
                        <a:t>REQ-FUN-TAX-01</a:t>
                      </a:r>
                    </a:p>
                  </a:txBody>
                  <a:tcPr/>
                </a:tc>
                <a:tc>
                  <a:txBody>
                    <a:bodyPr/>
                    <a:lstStyle/>
                    <a:p>
                      <a:pPr algn="l"/>
                      <a:r>
                        <a:rPr sz="1600" b="0">
                          <a:solidFill>
                            <a:srgbClr val="000000"/>
                          </a:solidFill>
                          <a:latin typeface="Arial"/>
                        </a:rPr>
                        <a:t>URA Summary Generation</a:t>
                      </a:r>
                    </a:p>
                  </a:txBody>
                  <a:tcPr/>
                </a:tc>
                <a:tc>
                  <a:txBody>
                    <a:bodyPr/>
                    <a:lstStyle/>
                    <a:p>
                      <a:pPr algn="l"/>
                      <a:r>
                        <a:rPr sz="1600" b="0">
                          <a:solidFill>
                            <a:srgbClr val="000000"/>
                          </a:solidFill>
                          <a:latin typeface="Arial"/>
                        </a:rPr>
                        <a:t>Stored Procedure: GenerateURA Summary</a:t>
                      </a:r>
                    </a:p>
                  </a:txBody>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a:spAutoFit/>
          </a:bodyPr>
          <a:lstStyle/>
          <a:p>
            <a:pPr algn="l"/>
            <a:r>
              <a:rPr sz="3200" b="1">
                <a:solidFill>
                  <a:srgbClr val="000000"/>
                </a:solidFill>
                <a:latin typeface="Arial"/>
              </a:rPr>
              <a:t>Conclusion and Next Steps</a:t>
            </a:r>
          </a:p>
        </p:txBody>
      </p:sp>
      <p:sp>
        <p:nvSpPr>
          <p:cNvPr id="3" name="TextBox 2"/>
          <p:cNvSpPr txBox="1"/>
          <p:nvPr/>
        </p:nvSpPr>
        <p:spPr>
          <a:xfrm>
            <a:off x="640080" y="1463040"/>
            <a:ext cx="10972800" cy="548640"/>
          </a:xfrm>
          <a:prstGeom prst="rect">
            <a:avLst/>
          </a:prstGeom>
          <a:noFill/>
        </p:spPr>
        <p:txBody>
          <a:bodyPr wrap="square">
            <a:spAutoFit/>
          </a:bodyPr>
          <a:lstStyle/>
          <a:p>
            <a:pPr algn="l"/>
            <a:r>
              <a:rPr sz="2000" b="0">
                <a:solidFill>
                  <a:srgbClr val="000000"/>
                </a:solidFill>
                <a:latin typeface="Arial"/>
              </a:rPr>
              <a:t>Project Delivery and Future Enhancements</a:t>
            </a:r>
          </a:p>
        </p:txBody>
      </p:sp>
      <p:sp>
        <p:nvSpPr>
          <p:cNvPr id="4" name="TextBox 3"/>
          <p:cNvSpPr txBox="1"/>
          <p:nvPr/>
        </p:nvSpPr>
        <p:spPr>
          <a:xfrm>
            <a:off x="914400" y="2103120"/>
            <a:ext cx="10058400" cy="457200"/>
          </a:xfrm>
          <a:prstGeom prst="rect">
            <a:avLst/>
          </a:prstGeom>
          <a:noFill/>
        </p:spPr>
        <p:txBody>
          <a:bodyPr wrap="square">
            <a:spAutoFit/>
          </a:bodyPr>
          <a:lstStyle/>
          <a:p>
            <a:pPr algn="l"/>
            <a:r>
              <a:rPr sz="1800" b="0">
                <a:solidFill>
                  <a:srgbClr val="000000"/>
                </a:solidFill>
                <a:latin typeface="Arial"/>
              </a:rPr>
              <a:t>• Conclusion: The DCMS architecture is directly driven by the operational bottlenecks observed at Deniz Construction Limited. Every functional requirement maps to a specific database entity, trigger, or stored procedure.</a:t>
            </a:r>
          </a:p>
        </p:txBody>
      </p:sp>
      <p:sp>
        <p:nvSpPr>
          <p:cNvPr id="5" name="TextBox 4"/>
          <p:cNvSpPr txBox="1"/>
          <p:nvPr/>
        </p:nvSpPr>
        <p:spPr>
          <a:xfrm>
            <a:off x="914400" y="2514600"/>
            <a:ext cx="10058400" cy="457200"/>
          </a:xfrm>
          <a:prstGeom prst="rect">
            <a:avLst/>
          </a:prstGeom>
          <a:noFill/>
        </p:spPr>
        <p:txBody>
          <a:bodyPr wrap="square">
            <a:spAutoFit/>
          </a:bodyPr>
          <a:lstStyle/>
          <a:p>
            <a:pPr algn="l"/>
            <a:r>
              <a:rPr sz="1800" b="0">
                <a:solidFill>
                  <a:srgbClr val="000000"/>
                </a:solidFill>
                <a:latin typeface="Arial"/>
              </a:rPr>
              <a:t>• Next Steps: Deployment of the system on the existing office laptop, accompanied by a simplified User Manual for the Sales Manager.</a:t>
            </a:r>
          </a:p>
        </p:txBody>
      </p:sp>
      <p:sp>
        <p:nvSpPr>
          <p:cNvPr id="6" name="TextBox 5"/>
          <p:cNvSpPr txBox="1"/>
          <p:nvPr/>
        </p:nvSpPr>
        <p:spPr>
          <a:xfrm>
            <a:off x="914400" y="2926080"/>
            <a:ext cx="10058400" cy="457200"/>
          </a:xfrm>
          <a:prstGeom prst="rect">
            <a:avLst/>
          </a:prstGeom>
          <a:noFill/>
        </p:spPr>
        <p:txBody>
          <a:bodyPr wrap="square">
            <a:spAutoFit/>
          </a:bodyPr>
          <a:lstStyle/>
          <a:p>
            <a:pPr algn="l"/>
            <a:r>
              <a:rPr sz="1800" b="0">
                <a:solidFill>
                  <a:srgbClr val="000000"/>
                </a:solidFill>
                <a:latin typeface="Arial"/>
              </a:rPr>
              <a:t>• Future Enhancements: Features such as a formal Secretary role or advanced logistics tracking are logged in a Future Enhancements Backlog for post academic implementation.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